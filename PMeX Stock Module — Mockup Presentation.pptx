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609600" y="838200"/>
            <a:ext cx="10972800" cy="4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609600" y="1551880"/>
            <a:ext cx="10769600" cy="449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609600" y="838200"/>
            <a:ext cx="10972800" cy="4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609600" y="1551880"/>
            <a:ext cx="10769600" cy="449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922859"/>
            <a:ext cx="108833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BEDROCK ANALYTICS · PMEX ENTERPRISE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265759"/>
            <a:ext cx="9810750" cy="1478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20"/>
              </a:lnSpc>
              <a:buNone/>
            </a:pPr>
            <a:r>
              <a:rPr lang="en-US" sz="52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ระบบจัดการคลังทรัพย์สิน</a:t>
            </a:r>
            <a:endParaRPr lang="en-US" sz="5200" dirty="0"/>
          </a:p>
          <a:p>
            <a:pPr algn="l" indent="0" marL="0">
              <a:lnSpc>
                <a:spcPts val="5720"/>
              </a:lnSpc>
              <a:buNone/>
            </a:pPr>
            <a:r>
              <a:rPr lang="en-US" sz="52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(Stock Module)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96320"/>
            <a:ext cx="78486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นำเสนอ Mockup ครบทั้ง 11 หน้าจอ — ทบทวนขั้นตอนการทำงานและหน้าตาระบบร่วมกัน ก่อนเริ่มพัฒนาระบบจริง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2800" y="4815780"/>
            <a:ext cx="406400" cy="25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320800" y="4721820"/>
            <a:ext cx="52744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 ตุลาคม 2569 · ปรับปรุงตามความคิดเห็นของผู้ใช้งานมาแล้วหลายรอบ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ทำไมต้องมี MOCKUP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738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เป้าหมายและขอบเขตของงานชิ้นนี้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853505"/>
            <a:ext cx="3380284" cy="1724025"/>
          </a:xfrm>
          <a:prstGeom prst="roundRect">
            <a:avLst>
              <a:gd name="adj" fmla="val 7182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3150" y="2110680"/>
            <a:ext cx="355600" cy="381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073150" y="2250380"/>
            <a:ext cx="295191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ยืนยันขั้นตอนการทำงาน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3150" y="2605980"/>
            <a:ext cx="2951912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ให้ผู้ใช้งานเห็นภาพขั้นตอนจริงของแต่ละหน้าจอ ก่อนลงมือเขียนโค้ดจริง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5809" y="1853505"/>
            <a:ext cx="3380383" cy="1724025"/>
          </a:xfrm>
          <a:prstGeom prst="roundRect">
            <a:avLst>
              <a:gd name="adj" fmla="val 7182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2984" y="2110680"/>
            <a:ext cx="355600" cy="381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662984" y="2250380"/>
            <a:ext cx="295201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ปรับปรุงตามความคิดเห็นจริง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2984" y="2605980"/>
            <a:ext cx="2952014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ทุกหน้าจอผ่านการตรวจสอบและปรับแก้ตามความคิดเห็นของผู้ใช้งานมาแล้วหลายรอบ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5741" y="1853505"/>
            <a:ext cx="3380284" cy="1724025"/>
          </a:xfrm>
          <a:prstGeom prst="roundRect">
            <a:avLst>
              <a:gd name="adj" fmla="val 7182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52916" y="2110680"/>
            <a:ext cx="355600" cy="38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8252916" y="2250380"/>
            <a:ext cx="295191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ยังไม่ใช่ระบบจริง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52916" y="2605980"/>
            <a:ext cx="2951912" cy="739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เป็นเพียงหน้าจอตัวอย่าง ยังไม่เชื่อมฐานข้อมูลหรือระบบจริง ใช้เพื่อทดสอบหน้าตาและขั้นตอนเท่านั้น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2800" y="3885505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เปิดดูได้ทันทีจากไฟล์ตัวอย่างในเครื่อง ไม่ต้องเชื่อมต่ออินเทอร์เน็ต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253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โครงสร้างระบบ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901105"/>
            <a:ext cx="11301984" cy="4288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11 เมนู และโมเดลข้อมูล 3 ชั้น</a:t>
            </a:r>
            <a:endParaRPr lang="en-US" sz="2800" dirty="0"/>
          </a:p>
        </p:txBody>
      </p:sp>
      <p:pic>
        <p:nvPicPr>
          <p:cNvPr id="4" name="Image 0" descr="เมนู ระบบจัดการคลังทรัพย์สิน">    </p:cNvPr>
          <p:cNvPicPr>
            <a:picLocks noChangeAspect="1"/>
          </p:cNvPicPr>
          <p:nvPr/>
        </p:nvPicPr>
        <p:blipFill>
          <a:blip r:embed="rId1"/>
          <a:srcRect l="0" r="0" t="-17" b="-17"/>
          <a:stretch/>
        </p:blipFill>
        <p:spPr>
          <a:xfrm>
            <a:off x="615950" y="1514078"/>
            <a:ext cx="996950" cy="4321572"/>
          </a:xfrm>
          <a:prstGeom prst="roundRect">
            <a:avLst>
              <a:gd name="adj" fmla="val 4459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612775" y="1510903"/>
            <a:ext cx="1003300" cy="4327922"/>
          </a:xfrm>
          <a:prstGeom prst="roundRect">
            <a:avLst>
              <a:gd name="adj" fmla="val 4747"/>
            </a:avLst>
          </a:prstGeom>
          <a:noFill/>
          <a:ln w="6350">
            <a:solidFill>
              <a:srgbClr val="DCE7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32200" y="151020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3898900" y="1507728"/>
            <a:ext cx="151614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 (Dashboard)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94500" y="151020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061200" y="1507728"/>
            <a:ext cx="118479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ทะเบียนทรัพย์สิน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32200" y="182006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898900" y="1817588"/>
            <a:ext cx="98464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รับของเข้าคลัง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794500" y="182006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061200" y="1817588"/>
            <a:ext cx="460058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ขอเบิก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32200" y="21299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3898900" y="2127448"/>
            <a:ext cx="805458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จ่ายอุปกรณ์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4500" y="21299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7061200" y="2127448"/>
            <a:ext cx="94368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ต่ออายุการยืม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32200" y="243978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7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898900" y="2437309"/>
            <a:ext cx="93214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รับคืนอุปกรณ์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94500" y="243978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8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7061200" y="2437309"/>
            <a:ext cx="1103948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คิวพิจารณาซ่อม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32200" y="274964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9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898900" y="2747169"/>
            <a:ext cx="157900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คำขอ/อนุมัติ Write-off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94500" y="274964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10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061200" y="2747169"/>
            <a:ext cx="115240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ตรวจนับประจำปี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32200" y="305950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lnTo>
                  <a:pt x="95250" y="0"/>
                </a:lnTo>
                <a:arcTo hR="95250" wR="95250" stAng="16200000" swAng="5400000"/>
                <a:lnTo>
                  <a:pt x="190500" y="95250"/>
                </a:lnTo>
                <a:arcTo hR="95250" wR="95250" stAng="0" swAng="5400000"/>
                <a:lnTo>
                  <a:pt x="95250" y="190500"/>
                </a:lnTo>
                <a:arcTo hR="95250" wR="9525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11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898900" y="3057029"/>
            <a:ext cx="129921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ตั้งค่า Item Master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632200" y="3366889"/>
            <a:ext cx="254000" cy="6350"/>
          </a:xfrm>
          <a:prstGeom prst="rect">
            <a:avLst/>
          </a:prstGeom>
          <a:solidFill>
            <a:srgbClr val="DCE7E5"/>
          </a:solidFill>
          <a:ln/>
        </p:spPr>
      </p:sp>
      <p:sp>
        <p:nvSpPr>
          <p:cNvPr id="29" name="Shape 26"/>
          <p:cNvSpPr/>
          <p:nvPr/>
        </p:nvSpPr>
        <p:spPr>
          <a:xfrm>
            <a:off x="3638550" y="3493889"/>
            <a:ext cx="2273300" cy="1384300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22700" y="3867646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หมวดหมู่ (Category)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822700" y="4144466"/>
            <a:ext cx="1962150" cy="3853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อุปกรณ์ IoT ภาคสนาม, ครุภัณฑ์สำนักงาน, อื่นๆ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42050" y="3493889"/>
            <a:ext cx="2273300" cy="1384300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26200" y="3760986"/>
            <a:ext cx="19621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ประเภทอุปกรณ์ (Item Type)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426200" y="4251127"/>
            <a:ext cx="1962150" cy="3853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Handheld, Printer, Anywhere, SIM Card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845550" y="3493889"/>
            <a:ext cx="2273300" cy="1384300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029700" y="3867646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ทรัพย์สิน (Asset)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9029700" y="4144466"/>
            <a:ext cx="1962150" cy="3853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ตัวจริงแต่ละชิ้น ผูก Asset Tag / Serial Number</a:t>
            </a:r>
            <a:endParaRPr lang="en-US" sz="1050" dirty="0"/>
          </a:p>
        </p:txBody>
      </p:sp>
      <p:pic>
        <p:nvPicPr>
          <p:cNvPr id="38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54700" y="4122539"/>
            <a:ext cx="444500" cy="127000"/>
          </a:xfrm>
          <a:prstGeom prst="rect">
            <a:avLst/>
          </a:prstGeom>
        </p:spPr>
      </p:pic>
      <p:pic>
        <p:nvPicPr>
          <p:cNvPr id="39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4122539"/>
            <a:ext cx="444500" cy="12700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230735"/>
            <a:ext cx="10883392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0000" b="1" dirty="0">
                <a:solidFill>
                  <a:srgbClr val="5EEAD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3653135"/>
            <a:ext cx="9810750" cy="580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เบิก → จ่ายอุปกรณ์ → ยืนยันรับของ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12800" y="436046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ขั้นตอนที่ 1–2 และส่วนเสริมที่เกี่ยวข้อง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1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ขอเบิกอุปกรณ์ (Borrow Request)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ขอเบิกอุปกรณ์ (Borrow Reques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70674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วัตถุประสงค์การเบิก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15348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เลือกได้ 3 แบบ: ยืม / ขายขาด / ใช้งานภายใน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7624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โครงการ/ลูกค้า หรือ แผนก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321837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ชื่อช่องจะเปลี่ยนเองตามวัตถุประสงค์ที่เลือกไว้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6675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วันที่ต้องการเริ่มใช้อุปกรณ์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310776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ต้องกรอกทุกครั้ง เป็นคนละวันกับวันที่ขอเบิก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324827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ประเภทอุปกรณ์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784402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กรองให้เห็นเฉพาะอุปกรณ์ที่ตรงกับวัตถุประสงค์ที่เลือก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16796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จำนวนที่ต้องการเบิก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1679615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ระบุจำนวนชิ้นที่ต้องการ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18400" y="41042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874000" y="4104283"/>
            <a:ext cx="15973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วันที่คืน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74000" y="4336058"/>
            <a:ext cx="185582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ไม่บังคับ ยกเว้นกรณี “ยืม”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18400" y="464016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874000" y="4640163"/>
            <a:ext cx="17354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หมายเหตุเพิ่มเติม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874000" y="4871938"/>
            <a:ext cx="2021562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ระบุรายละเอียดเสริมได้อิสระ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18400" y="5176044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8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874000" y="5176044"/>
            <a:ext cx="250245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ปุ่มส่งคำขอ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74000" y="5407819"/>
            <a:ext cx="291548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ระบบจะบันทึกวันที่กดส่งคำขอให้อัตโนมัติ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ส่วนเสริม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รายการคำขอที่ส่งแล้ว + ตัวกรอง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รายการคำขอที่ส่งแล้ว + ตัวกรอ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373329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ช่องค้นหา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431800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พิมพ์เลขคำขอ ชื่อผู้ขอ โครงการ หรืออุปกรณ์ แล้วกรองให้ทันที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173890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กรองตามวัตถุประสงค์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02572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ยืม / ขายขาด / ใช้งานภายใน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7070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กรองตามสถานะ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315384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รอจ่ายของ / เบิกแล้ว / หมดอายุ / ยกเลิกแล้ว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3072604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ใช้ตัวกรองหลายตัวพร้อมกันได้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57973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ระบบจะแสดงเฉพาะรายการที่ตรงทุกเงื่อนไขที่เลือก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1143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คอลัมน์ “การรับของ”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246328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ดูได้ว่าผู้ขอเบิกได้รับของแล้วหรือยัง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18400" y="41042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874000" y="4104283"/>
            <a:ext cx="280464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ปุ่ม “แจ้งคืนอุปกรณ์”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74000" y="4336058"/>
            <a:ext cx="326755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กดแจ้งคืนได้จากตารางนี้เลย ไม่ต้องเปิดหน้าอื่น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18400" y="464016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874000" y="4640163"/>
            <a:ext cx="299422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ป้ายคำขอทดแทน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874000" y="4871938"/>
            <a:ext cx="3488412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ขึ้นเมื่อคืนของเสียแล้วขอเครื่องใหม่มาใช้แทนทันที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2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จ่ายอุปกรณ์ (Dispatch)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จ่ายอุปกรณ์ (Dispatch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60158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คำขอที่กำลังจ่ายของ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03097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แสดงรายละเอียดคำขอที่กำลังจะจ่ายของให้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90040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ป้าย “เคยอยู่ไซต์นี้มาก่อน”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337911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ดูจากประวัติจริงว่าเคยส่งเครื่องนี้ไปไซต์นี้มาก่อน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45238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ป้าย “📍 ใกล้ไซต์นี้”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85714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เครื่องอยู่ในพื้นที่ใกล้เคียงกับไซต์ที่ขอเบิก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366482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ตารางเลือกเครื่อง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426970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ระบบเรียงเครื่องแนะนำไว้บนสุด แต่เลือกเครื่องอื่นเองได้เสมอ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6964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กล่อง “ใกล้ครบกำหนดคืนจากที่อื่น”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314146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แจ้งเตือนเฉยๆ ยังต้องรับคืนให้เสร็จก่อนเสมอ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18400" y="41042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874000" y="4104283"/>
            <a:ext cx="325328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ปุ่มยืนยันจ่ายของ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74000" y="4336058"/>
            <a:ext cx="379023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เปลี่ยนสถานะเครื่องและกำหนดวันครบกำหนดคืนทันที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ส่วนเสริม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ยืนยันรับของ (Receipt Confirmation)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ยืนยันรับของ (Receipt Confirmatio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7000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รายการที่จ่ายไปจริง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14563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ตรวจเช็กทีละชิ้นว่าตรงกับที่จ่ายไปจริงหรือไม่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07374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เลือกผลตรวจรับต่อรายการ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41601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✅ ครบ/สภาพดี หรือ ⚠️ มีปัญหา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2681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ช่องกรอกรายละเอียดปัญหา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194682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บังคับกรอกถ้าติ๊กว่ามีปัญหา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90101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ยืนยันได้ 2 ทาง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37982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ผู้ขอเบิกกดเอง หรือเจ้าหน้าที่คลังช่วยบันทึกแทน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22704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สถานะอัปเดตทันที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259461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เป็น “รับของแล้ว” หรือ “แจ้งปัญหา”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18400" y="41042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874000" y="4104283"/>
            <a:ext cx="246934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บันทึกลงประวัติทรัพย์สิน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74000" y="4336058"/>
            <a:ext cx="287690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ระบบบันทึกไว้ในประวัติเครื่องให้อัตโนมัติ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18400" y="464016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874000" y="4640163"/>
            <a:ext cx="214764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ปุ่ม “บันทึกผลการรับของ”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874000" y="4871938"/>
            <a:ext cx="184339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ยืนยันครั้งเดียวจบทั้งคำขอ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230735"/>
            <a:ext cx="10883392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0000" b="1" dirty="0">
                <a:solidFill>
                  <a:srgbClr val="5EEAD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3653135"/>
            <a:ext cx="9810750" cy="580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ต่ออายุ → รับคืน → พิจารณาซ่อม → Write-off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12800" y="436046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ขั้นตอนที่ 3–6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3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ต่ออายุการยืม (Renewal)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ต่ออายุการยืม (Renewa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185055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รายการที่ยืมอยู่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215598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แสดงวันครบกำหนดคืนปัจจุบัน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29183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ค้นหาได้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67009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ค้นหาด้วยรหัสอุปกรณ์หรือชื่อโครงการ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09214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เลือกวันคืนใหม่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43744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กำหนดวันครบกำหนดคืนรอบถัดไป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31564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เหตุผล/หมายเหตุการต่ออายุ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198759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ระบุเหตุผลที่ขอต่ออายุ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323489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ประวัติการต่ออายุ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376880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เก็บไว้ดูย้อนหลังได้ทุกครั้ง ไม่กระทบจำนวนของในคลัง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18400" y="41042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874000" y="4104283"/>
            <a:ext cx="241477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ปุ่มยืนยันต่ออายุ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74000" y="4336058"/>
            <a:ext cx="281332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บันทึกทันที ไม่เปลี่ยนสถานะของอุปกรณ์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4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รับคืนอุปกรณ์ (Return)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รับคืนอุปกรณ์ (Return) — เลือกผลการตรวจสภาพ 2 แบ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เลือกผลตรวจสภาพ 2 แบบ ชัดเจน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“✅ คืนปกติ” หรือ “⚠️ ของเสีย/ชำรุด” — ไม่ปนกันเป็นช่องเดียวเหมือนเดิมแล้ว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2137866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2137866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 “คืนปกติ” → กลับเข้าสต๊อกทันที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369641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สภาพดี พร้อมใช้งานต่อได้เลย — ระบุเหตุผลย่อยได้ (ครบกำหนดยืม / หมดสัญญาโครงการ / อื่นๆ)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85085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850852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 “ของเสีย/ชำรุด” → ส่งต่อให้ซ่อม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3082627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ไม่กลับเข้าสต๊อก — เข้าคิวให้ IT Support ตรวจและพิจารณาซ่อมต่อทันที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563838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563838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ใช้ได้ทั้ง 2 สถานการณ์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795613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แท็บ “คำขอแจ้งคืนจากผู้ขอเบิก” (แจ้งในระบบมาก่อนแล้ว) และแท็บ “คืนของเอง” (มีคนหิ้วของมาคืนที่หน้างานเลย)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4276824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4276824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ระบบเตือนเองถ้ามีของทดแทนอยู่แล้ว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4508599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ถ้าเครื่องนี้เคยขอทดแทนล่วงหน้าไปแล้ว (ดูสไลด์ถัดไป) จะมีกล่องแจ้งให้เห็น ไม่ต้องขอซ้ำ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ส่วนเสริม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ไปเปลี่ยนของชำรุดที่หน้างาน ในเที่ยวเดียว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ขอเบิกอุปกรณ์ — ติ๊กเพื่อเปลี่ยนของชำรุ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418592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สถานการณ์: ลูกค้าแจ้งว่าอุปกรณ์เสีย ผู้ยืมต้องไปตรวจและรับของเสียกลับเข้าคลัง พร้อมเอาเครื่องทดแทนไปให้ลูกค้าในเที่ยวเดียว เพื่อประหยัดค่าเดินทาง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18400" y="21791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874000" y="2179141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ติ๊กช่อง “เพื่อนำไปเปลี่ยนของชำรุด”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74000" y="2410916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ตอนสร้างคำขอเบิกแบบ “ยืม” ตามปกติ แล้วเลือกเครื่องเดิมที่ชำรุดไว้เป็นข้อมูลอ้างอิง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518400" y="2904827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74000" y="2904827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รับเครื่องทดแทนได้ทันที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74000" y="3136602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ไม่ต้องรอนำของเสียมาคืนก่อน — เจ้าหน้าที่คลังจ่ายเครื่องใหม่ได้เลยตามขั้นตอนปกติ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518400" y="363051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874000" y="3630513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พกไปแลกกับลูกค้าได้เลยในเที่ยวเดียว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74000" y="3862288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เอาเครื่องทดแทนไปส่ง พร้อมรับของเสียกลับมาที่คลังในการเดินทางครั้งเดียว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518400" y="4356199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874000" y="4356199"/>
            <a:ext cx="38196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พอได้ของเสียกลับมา ค่อยทำ “รับคืนอุปกรณ์”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74000" y="4587974"/>
            <a:ext cx="3819652" cy="405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 “ของเสีย/ชำรุด” ตามปกติ — ระบบรู้เองว่ามีของทดแทนจ่ายไปแล้ว ไม่ต้องขอซ้ำ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5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คิวพิจารณาซ่อม (Repair Queue)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คิวพิจารณาซ่อม (Repair Queu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344704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แท็บ “รอพิจารณา”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401597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เครื่องที่คืนมาแล้วแจ้งเสีย รอตัดสินใจซ่อมหรือตัดจำหน่าย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2244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แท็บ “กำลังซ่อม”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59163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ติดตามของที่ส่งออกไปซ่อมแล้วรอผล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40751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ตัวกรอง “เฉพาะที่เกินกำหนด”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80487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ติ๊กเพื่อดูเฉพาะเครื่องที่ซ่อมเกินเวลาแล้ว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71308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ร้านที่ส่งซ่อม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16087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เลือกจากรายชื่อที่มี หรือพิมพ์ชื่อร้านอื่นเองได้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304399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ป้ายเกินกำหนดซ่อม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354639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ถ้าไม่ระบุวันคาดเสร็จ นับเกินกำหนดเมื่อเกิน 30 วัน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6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คำขอ/อนุมัติ Write-off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คำขอ/อนุมัติ Write-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92060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ค้นหาทรัพย์สินที่ต้องการตัดจำหน่าย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250685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ค้นหาแล้วกรองให้ทันทีเหมือนหน้าอื่นๆ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63459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ป้ายแนะนำ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306943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🔧 อยู่ระหว่างซ่อม / ⏰ เลยกำหนดคืนแล้ว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76141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สถานะและที่ตั้ง/ผู้ถือครองปัจจุบัน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37021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ช่วยประกอบการตัดสินใจ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5707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เลือกจากตารางได้เลย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299501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ใช้งานคล้ายกับตอนเลือกเครื่องจ่ายอุปกรณ์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230735"/>
            <a:ext cx="10883392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0000" b="1" dirty="0">
                <a:solidFill>
                  <a:srgbClr val="5EEAD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3653135"/>
            <a:ext cx="9810750" cy="580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ข้อมูลหลักและการควบคุมสต๊อก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12800" y="436046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ขั้นตอนที่ 7–11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7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รับของเข้าคลัง (Receive)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รับของเข้าคลัง (Rece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98297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กรอกทีละชิ้น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475315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กรอกข้อมูลครบถ้วนเหมือนแบบฟอร์มที่ใช้งานจริง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31274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รหัสเครื่อง / ประเภท / หมายเลขเครื่อง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68436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ระบุรายละเอียดของทรัพย์สินแต่ละชิ้น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92912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รูปถ่ายอุปกรณ์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341256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ระบุตำแหน่งไฟล์รูปที่เก็บไว้ในโฟลเดอร์ส่วนกลาง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302661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วันสิ้นสุดรับประกัน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526155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แสดงป้าย “อยู่ในประกัน/หมดประกัน” ให้อัตโนมัติ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790954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ตารางรับเข้าล่าสุด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325159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รายการที่รับเข้าจะขึ้นในทะเบียนทรัพย์สินทันที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8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ทะเบียนทรัพย์สิน (Asset Register)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ทะเบียนทรัพย์สิน (Asset Registe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59514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ตารางรวมทรัพย์สินทั้งหมด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02347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กรองดูตามประเภท หมวดหมู่ หรือสถานะได้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5117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คลิกแถวเพื่อดูรายละเอียด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92631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เปิดดูรายละเอียดและประวัติของเครื่องนั้น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184748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ข้อมูลครบในมุมมองเดียว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152412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ต้นทุน / วันรับประกัน / รูปถ่าย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43244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สถานะและประเภทการใช้งาน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243244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ให้ยืมได้ / ให้ขายได้ / ใช้งานภายใน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334321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ประวัติการใช้งานจริง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389501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รับเข้า→จ่าย→คืน→ซ่อม→ตัดจำหน่าย ดูย้อนหลังได้ครบ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9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ตั้งค่า Item Master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ตั้งค่า Item Ma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8708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 “หมวดหมู่ (Category)”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344704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จัดกลุ่มประเภทอุปกรณ์ เพิ่ม แก้ไข หรือลบได้เอง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187037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 “ประเภทอุปกรณ์”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179082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ทุกรายการผูกกับหมวดหมู่เสมอ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322630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กำหนดหมายเลขเครื่อง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375880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เลือกได้ว่าประเภทนี้ต้องมีหมายเลขกำกับทุกชิ้นหรือไม่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66872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อุปกรณ์แบบชุด (Kit)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310919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กำหนดรายการอุปกรณ์ย่อยที่ต้องมีครบในชุด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08785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ขอบเขตการใช้งาน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2432447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ให้ยืมได้ / ให้ขายได้ / ใช้งานภายใน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10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ตรวจนับประจำปี (Annual Check)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3295650"/>
          </a:xfrm>
          <a:prstGeom prst="roundRect">
            <a:avLst>
              <a:gd name="adj" fmla="val 3757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ตรวจนับประจำปี (Annual Chec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717888"/>
            <a:ext cx="6337300" cy="27159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93964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การ์ดสรุปผลทันที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342483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บอกจำนวนที่ต้องตรวจ / พบปกติ / ไม่พบ / ชำรุด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295487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ส่งออกรายการเป็นไฟล์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3442573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ดาวน์โหลดได้ทันที เพื่อนำไปตรวจนับจริงหน้างาน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37018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ระบุผลตรวจนับต่อรายการ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4312801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ไม่พบ→สร้างคำขอตัดจำหน่าย, ชำรุด→เข้าคิวซ่อม ให้อัตโนมัติ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spc="150" kern="0" dirty="0">
                <a:solidFill>
                  <a:srgbClr val="0C7D7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ขั้นตอนที่ 11 จาก 11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83820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ภาพรวม Dashboard — ปิดวงจรการทำงาน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12775" y="1428055"/>
            <a:ext cx="6597650" cy="44069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6350">
            <a:solidFill>
              <a:srgbClr val="DCE7E5"/>
            </a:solidFill>
            <a:prstDash val="solid"/>
          </a:ln>
          <a:effectLst>
            <a:outerShdw sx="100000" sy="100000" kx="0" ky="0" algn="bl" rotWithShape="0" blurRad="152400" dist="50800" dir="5400000">
              <a:srgbClr val="114342">
                <a:alpha val="10000"/>
              </a:srgbClr>
            </a:outerShdw>
          </a:effectLst>
        </p:spPr>
      </p:sp>
      <p:pic>
        <p:nvPicPr>
          <p:cNvPr id="5" name="Image 0" descr="ภาพหน้าจอ ภาพรวม Dashboard — ปิดวงจรการทำงา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69960"/>
            <a:ext cx="6337300" cy="39230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18400" y="142488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874000" y="1424880"/>
            <a:ext cx="245646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การ์ดสรุปเปลี่ยนตามบทบาท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74000" y="1656655"/>
            <a:ext cx="2861905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เห็นข้อมูลต่างกันตามบทบาทของผู้ใช้งาน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18400" y="196076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74000" y="1960761"/>
            <a:ext cx="189899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คำขอเบิกรอจ่ายของ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74000" y="2192536"/>
            <a:ext cx="221241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และคำขอที่รอผู้รับยืนยันรับของ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18400" y="249664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874000" y="2496641"/>
            <a:ext cx="289286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รอซ่อม / กำลังซ่อม / รอตัดจำหน่าย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74000" y="2728416"/>
            <a:ext cx="248304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ภาพรวมของที่ยังใช้งานไม่ได้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18400" y="303252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74000" y="3032522"/>
            <a:ext cx="277844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ขายแล้ว / ตัดจำหน่ายแล้ว (สะสม)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74000" y="3264297"/>
            <a:ext cx="238483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ติดตามทรัพย์สินที่ออกจากคลังถาวร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18400" y="356840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874000" y="3568402"/>
            <a:ext cx="201965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0F2A29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ตารางใกล้ครบกำหนดคืน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74000" y="3800177"/>
            <a:ext cx="1733848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46605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เตือนล่วงหน้าภายใน 30 วัน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13019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สรุปสถานะล่าสุด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609600" y="904180"/>
            <a:ext cx="11301984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F2A29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ข้อจำกัดที่ทราบแล้ว (ตกลงกับผู้ใช้งานไว้แล้ว)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516261"/>
            <a:ext cx="10972800" cy="2967633"/>
          </a:xfrm>
          <a:custGeom>
            <a:avLst/>
            <a:gdLst/>
            <a:ahLst/>
            <a:cxnLst/>
            <a:rect l="l" t="t" r="r" b="b"/>
            <a:pathLst>
              <a:path w="10972800" h="2967633">
                <a:moveTo>
                  <a:pt x="10896600" y="0"/>
                </a:moveTo>
                <a:lnTo>
                  <a:pt x="10896600" y="0"/>
                </a:lnTo>
                <a:arcTo hR="76200" wR="76200" stAng="16200000" swAng="5400000"/>
                <a:lnTo>
                  <a:pt x="10972800" y="2891433"/>
                </a:lnTo>
                <a:arcTo hR="76200" wR="76200" stAng="0" swAng="5400000"/>
                <a:lnTo>
                  <a:pt x="76200" y="2967633"/>
                </a:lnTo>
                <a:arcTo hR="76200" wR="76200" stAng="5400000" swAng="5400000"/>
                <a:lnTo>
                  <a:pt x="0" y="2891433"/>
                </a:lnTo>
                <a:arcTo hR="69850" wR="76200" stAng="10800000" swAng="-5400000"/>
                <a:lnTo>
                  <a:pt x="10896600" y="2961283"/>
                </a:lnTo>
                <a:arcTo hR="69850" wR="69850" stAng="5400000" swAng="-5400000"/>
                <a:lnTo>
                  <a:pt x="10966450" y="76200"/>
                </a:lnTo>
                <a:arcTo hR="76200" wR="69850" stAng="0" swAng="-5400000"/>
                <a:close/>
              </a:path>
            </a:pathLst>
          </a:custGeom>
          <a:solidFill>
            <a:srgbClr val="DCE7E5"/>
          </a:solidFill>
          <a:ln/>
        </p:spPr>
      </p:sp>
      <p:sp>
        <p:nvSpPr>
          <p:cNvPr id="5" name="Shape 3"/>
          <p:cNvSpPr/>
          <p:nvPr/>
        </p:nvSpPr>
        <p:spPr>
          <a:xfrm>
            <a:off x="609600" y="1516261"/>
            <a:ext cx="10972800" cy="2967633"/>
          </a:xfrm>
          <a:custGeom>
            <a:avLst/>
            <a:gdLst/>
            <a:ahLst/>
            <a:cxnLst/>
            <a:rect l="l" t="t" r="r" b="b"/>
            <a:pathLst>
              <a:path w="10972800" h="2967633">
                <a:moveTo>
                  <a:pt x="76200" y="2967633"/>
                </a:moveTo>
                <a:lnTo>
                  <a:pt x="76200" y="2967633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10896600" y="0"/>
                </a:lnTo>
                <a:arcTo hR="76200" wR="76200" stAng="16200000" swAng="5400000"/>
                <a:lnTo>
                  <a:pt x="10972800" y="76200"/>
                </a:lnTo>
                <a:arcTo hR="63500" wR="76200" stAng="0" swAng="-5400000"/>
                <a:lnTo>
                  <a:pt x="76200" y="12700"/>
                </a:lnTo>
                <a:arcTo hR="63500" wR="63500" stAng="16200000" swAng="-5400000"/>
                <a:lnTo>
                  <a:pt x="12700" y="2891433"/>
                </a:lnTo>
                <a:arcTo hR="76200" wR="635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22300" y="1528961"/>
            <a:ext cx="10953750" cy="305891"/>
          </a:xfrm>
          <a:custGeom>
            <a:avLst/>
            <a:gdLst/>
            <a:ahLst/>
            <a:cxnLst/>
            <a:rect l="l" t="t" r="r" b="b"/>
            <a:pathLst>
              <a:path w="10953750" h="305891">
                <a:moveTo>
                  <a:pt x="0" y="63500"/>
                </a:moveTo>
                <a:arcTo hR="63500" wR="63500" stAng="10800000" swAng="5400000"/>
                <a:lnTo>
                  <a:pt x="10883900" y="0"/>
                </a:lnTo>
                <a:arcTo hR="69850" wR="69850" stAng="16200000" swAng="5400000"/>
                <a:lnTo>
                  <a:pt x="10953750" y="305891"/>
                </a:lnTo>
                <a:lnTo>
                  <a:pt x="0" y="305891"/>
                </a:lnTo>
                <a:close/>
              </a:path>
            </a:pathLst>
          </a:custGeom>
          <a:solidFill>
            <a:srgbClr val="E4E8E7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2300" y="1528961"/>
          <a:ext cx="10953750" cy="2948583"/>
        </p:xfrm>
        <a:graphic>
          <a:graphicData uri="http://schemas.openxmlformats.org/drawingml/2006/table">
            <a:tbl>
              <a:tblPr/>
              <a:tblGrid>
                <a:gridCol w="3067050"/>
                <a:gridCol w="7886700"/>
              </a:tblGrid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78350F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หัวข้อ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78350F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รายละเอียด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การแจ้งปัญหารับของ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แจ้งปัญหาตอนรับของแล้ว ระบบยังไม่ส่งเรื่องต่อไปซ่อมหรือตัดจำหน่ายให้อัตโนมัติ เป็นแค่การแจ้งเตือนให้เจ้าหน้าที่คลังติดตามเอง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รับของบางส่วน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ตอนนี้ต้องยืนยันหรือแจ้งปัญหาทีเดียวทั้งใบคำขอ ยังไม่รองรับกรณีได้รับของมาแค่บางส่วน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</a:tr>
              <a:tr h="501452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คำขอเบิกทดแทนอัตโนมัติ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คำขอรออุปกรณ์ใหม่จะหมดอายุเองถ้าไม่ดำเนินการใน 14 วัน หรือยกเลิกเองได้ตลอด (ตัวเลข 14 วันเป็นค่าตัวอย่าง รอยืนยันจำนวนที่เหมาะสม)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รายชื่อร้านซ่อม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เลือกร้านซ่อมจากรายชื่อที่เตรียมไว้ได้แล้ว แต่ยังไม่มีหน้าจัดการเพิ่ม/แก้ไขรายชื่อร้านด้วยตัวเอง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เปลี่ยนร้านซ่อมระหว่างทาง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ยังไม่รองรับการเปลี่ยนร้านซ่อม หรือยกเลิกการส่งซ่อมหลังจากส่งไปแล้ว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การแยกคำขอรายบุคคล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ตอนนี้ทุกคนที่เข้าใช้งานในบทบาทผู้ขอเบิกจะเห็นคำขอทั้งหมดร่วมกัน ยังไม่ได้แยกให้เห็นเฉพาะคำขอของตัวเอง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ข้อมูลจังหวัด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ยังไม่มีช่องระบุจังหวัดแยกต่างหาก ตอนนี้ใช้การค้นหาจากชื่อโครงการ/ลูกค้าแทนไปก่อน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891"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0F2A29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นำเข้าข้อมูลจำนวนมาก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4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46605D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การรับของเข้าคลังแบบนำเข้าไฟล์จำนวนมาก ตอนนี้เป็นเพียงปุ่มตัวอย่าง ยังไม่สามารถนำเข้าไฟล์จริงได้</a:t>
                      </a:r>
                      <a:endParaRPr lang="en-US" sz="11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48895" marR="48895" marT="48895" marB="48895" anchor="t">
                    <a:lnL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5EEAD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ขั้นตอนถัดไป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738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i="0" dirty="0">
                <a:solidFill>
                  <a:srgbClr val="EAF6F4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ก่อนจะสรุปรายละเอียดระบบจริง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99530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11434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68400" y="1799530"/>
            <a:ext cx="339124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AF6F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การแยกคำขอรายบุคคล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8400" y="2031305"/>
            <a:ext cx="395097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ต้องการให้ระบบแยกให้เห็นเฉพาะคำขอของตัวเองหรือไม่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12800" y="236081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11434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68400" y="2360811"/>
            <a:ext cx="371725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AF6F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ข้อมูลจังหวัด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68400" y="2592586"/>
            <a:ext cx="4330779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ต้องการเพิ่มช่องระบุจังหวัดแยกต่างหากในฟอร์มขอเบิกหรือไม่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12800" y="2922091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11434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68400" y="2922091"/>
            <a:ext cx="4970167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AF6F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ตัวเลขที่ใช้ในระบบ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8400" y="3153866"/>
            <a:ext cx="5790486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วันหมดอายุคำขอทดแทน (ตัวอย่าง 14 วัน) และวันเกินกำหนดซ่อม (ตัวอย่าง 30 วัน)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12800" y="348337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11434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68400" y="3483372"/>
            <a:ext cx="352747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AF6F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รายละเอียดเพิ่มเติม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8400" y="3715147"/>
            <a:ext cx="4109680" cy="21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BFE0D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ขั้นตอนอนุมัติ “ใช้งานภายใน” และรายชื่อร้านซ่อมจริง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2800" y="4158952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EEAD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เมื่อตกลงกันครบทุกข้อแล้ว ทีมงานจะเริ่มพัฒนาระบบจริงในขั้นตอนถัดไป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304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7C938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Bedrock Analytics · PMeX Enterprise — Stock Module (Mockup)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eX Stock Module — Mockup Presentation">
  <a:themeElements>
    <a:clrScheme name="PMeX Stock Module — Mockup Presentation">
      <a:dk1>
        <a:srgbClr val="0F2A29"/>
      </a:dk1>
      <a:lt1>
        <a:srgbClr val="F6FAF9"/>
      </a:lt1>
      <a:dk2>
        <a:srgbClr val="495E5D"/>
      </a:dk2>
      <a:lt2>
        <a:srgbClr val="DFE5E4"/>
      </a:lt2>
      <a:accent1>
        <a:srgbClr val="0D9488"/>
      </a:accent1>
      <a:accent2>
        <a:srgbClr val="0C7D72"/>
      </a:accent2>
      <a:accent3>
        <a:srgbClr val="5EEAD4"/>
      </a:accent3>
      <a:accent4>
        <a:srgbClr val="B45309"/>
      </a:accent4>
      <a:accent5>
        <a:srgbClr val="114342"/>
      </a:accent5>
      <a:accent6>
        <a:srgbClr val="46605D"/>
      </a:accent6>
      <a:hlink>
        <a:srgbClr val="0563C1"/>
      </a:hlink>
      <a:folHlink>
        <a:srgbClr val="954F72"/>
      </a:folHlink>
    </a:clrScheme>
    <a:fontScheme name="PMeX Stock Module — Mockup Presentation">
      <a:majorFont>
        <a:latin typeface="Kan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rabu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PMeX Stock Module — Mockup Presentation</dc:title>
  <dc:subject/>
  <dc:creator/>
  <cp:lastModifiedBy/>
  <cp:revision>1</cp:revision>
  <dcterms:created xsi:type="dcterms:W3CDTF">2026-10-03T11:34:49Z</dcterms:created>
  <dcterms:modified xsi:type="dcterms:W3CDTF">2026-10-03T11:34:49Z</dcterms:modified>
</cp:coreProperties>
</file>