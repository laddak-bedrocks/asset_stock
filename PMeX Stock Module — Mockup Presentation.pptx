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38200"/>
            <a:ext cx="109728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551880"/>
            <a:ext cx="10769600" cy="449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838200"/>
            <a:ext cx="109728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551880"/>
            <a:ext cx="10769600" cy="449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22859"/>
            <a:ext cx="108833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BEDROCK ANALYTICS · PMEX ENTERPRISE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65759"/>
            <a:ext cx="9810750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ระบบจัดการคลังทรัพย์สิน</a:t>
            </a:r>
            <a:endParaRPr lang="en-US" sz="52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(Stock Module)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96320"/>
            <a:ext cx="78486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นำเสนอ Mockup ครบทั้ง 11 หน้าจอ — ทบทวน Business Flow และ UX ร่วมกัน ก่อนเริ่มพัฒนาระบบจริง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4815780"/>
            <a:ext cx="406400" cy="25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20800" y="4721820"/>
            <a:ext cx="31193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ตุลาคม 2569 · สรุปผลหลัง Round 1–11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ทำไมต้องมี MOCKUP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เป้าหมายและขอบเขตของงานชิ้นนี้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3505"/>
            <a:ext cx="3380284" cy="1724025"/>
          </a:xfrm>
          <a:prstGeom prst="roundRect">
            <a:avLst>
              <a:gd name="adj" fmla="val 7182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3150" y="211068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73150" y="2250380"/>
            <a:ext cx="295191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ยืนยัน Business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2605980"/>
            <a:ext cx="295191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 user เห็นภาพขั้นตอนการทำงานจริงของแต่ละหน้าจอ ก่อนลงมือเขียนโค้ดจริง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5809" y="1853505"/>
            <a:ext cx="3380383" cy="1724025"/>
          </a:xfrm>
          <a:prstGeom prst="roundRect">
            <a:avLst>
              <a:gd name="adj" fmla="val 7182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2984" y="211068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662984" y="2250380"/>
            <a:ext cx="295201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ปรับจาก Feedback จริง 11 รอบ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2984" y="2605980"/>
            <a:ext cx="2952014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ทุกหน้าจอผ่านการตรวจสอบและปรับแก้ตาม feedback ของ user มาแล้ว Round 1–11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5741" y="1853505"/>
            <a:ext cx="3380284" cy="1724025"/>
          </a:xfrm>
          <a:prstGeom prst="roundRect">
            <a:avLst>
              <a:gd name="adj" fmla="val 7182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2916" y="2110680"/>
            <a:ext cx="355600" cy="38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252916" y="2250380"/>
            <a:ext cx="295191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ยังไม่ใช่ระบบจริง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2916" y="2605980"/>
            <a:ext cx="2951912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HTML/CSS/Vanilla JS ล้วน ไม่มีฐานข้อมูล ไม่เชื่อมต่อ production — รันในเบราว์เซอร์ล้วนๆ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38855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ไฟล์ทดสอบ: index.html · app.js · data.js — เปิดได้ทันทีด้วยการดับเบิลคลิก ไม่ต้องต่ออินเทอร์เน็ต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2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โครงสร้างระบบ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901105"/>
            <a:ext cx="11301984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 เมนู และโมเดลข้อมูล 3 ชั้น</a:t>
            </a:r>
            <a:endParaRPr lang="en-US" sz="2800" dirty="0"/>
          </a:p>
        </p:txBody>
      </p:sp>
      <p:pic>
        <p:nvPicPr>
          <p:cNvPr id="4" name="Image 0" descr="เมนู ระบบจัดการคลังทรัพย์สิน">    </p:cNvPr>
          <p:cNvPicPr>
            <a:picLocks noChangeAspect="1"/>
          </p:cNvPicPr>
          <p:nvPr/>
        </p:nvPicPr>
        <p:blipFill>
          <a:blip r:embed="rId1"/>
          <a:srcRect l="0" r="0" t="-17" b="-17"/>
          <a:stretch/>
        </p:blipFill>
        <p:spPr>
          <a:xfrm>
            <a:off x="615950" y="1514078"/>
            <a:ext cx="996950" cy="4321572"/>
          </a:xfrm>
          <a:prstGeom prst="roundRect">
            <a:avLst>
              <a:gd name="adj" fmla="val 445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12775" y="1510903"/>
            <a:ext cx="1003300" cy="4327922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DCE7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32200" y="15102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98900" y="1507728"/>
            <a:ext cx="151614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 (Dashboard)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94500" y="15102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061200" y="1507728"/>
            <a:ext cx="11847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ทะเบียนทรัพย์สิน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32200" y="18200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898900" y="1817588"/>
            <a:ext cx="98464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รับของเข้าคลัง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94500" y="18200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61200" y="1817588"/>
            <a:ext cx="46005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ขอเบิก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32200" y="21299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898900" y="2127448"/>
            <a:ext cx="80545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จ่ายอุปกรณ์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4500" y="21299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061200" y="2127448"/>
            <a:ext cx="94368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ต่ออายุการยืม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32200" y="24397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898900" y="2437309"/>
            <a:ext cx="93214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รับคืนอุปกรณ์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94500" y="243978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061200" y="2437309"/>
            <a:ext cx="110394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คิวพิจารณาซ่อม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32200" y="27496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898900" y="2747169"/>
            <a:ext cx="157900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คำขอ/อนุมัติ Write-off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94500" y="27496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061200" y="2747169"/>
            <a:ext cx="115240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ตรวจนับประจำปี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32200" y="30595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arcTo hR="95250" wR="95250" stAng="16200000" swAng="5400000"/>
                <a:lnTo>
                  <a:pt x="190500" y="95250"/>
                </a:lnTo>
                <a:arcTo hR="95250" wR="95250" stAng="0" swAng="5400000"/>
                <a:lnTo>
                  <a:pt x="95250" y="190500"/>
                </a:lnTo>
                <a:arcTo hR="95250" wR="95250" stAng="5400000" swAng="5400000"/>
                <a:lnTo>
                  <a:pt x="0" y="95250"/>
                </a:lnTo>
                <a:arcTo hR="95250" wR="95250" stAng="10800000" swAng="5400000"/>
                <a:close/>
              </a:path>
            </a:pathLst>
          </a:cu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898900" y="3057029"/>
            <a:ext cx="12992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ตั้งค่า Item Master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632200" y="3366889"/>
            <a:ext cx="254000" cy="6350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29" name="Shape 26"/>
          <p:cNvSpPr/>
          <p:nvPr/>
        </p:nvSpPr>
        <p:spPr>
          <a:xfrm>
            <a:off x="3638550" y="3493889"/>
            <a:ext cx="2273300" cy="138430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22700" y="3867646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หมวดหมู่ (Category)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822700" y="4144466"/>
            <a:ext cx="1962150" cy="3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เช่น อุปกรณ์ IoT ภาคสนาม, ครุภัณฑ์สำนักงาน, อื่นๆ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42050" y="3493889"/>
            <a:ext cx="2273300" cy="138430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26200" y="3760986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ประเภทอุปกรณ์ (Item Type)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26200" y="4251127"/>
            <a:ext cx="1962150" cy="3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เช่น Handheld, Printer, Anywhere, SIM Card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845550" y="3493889"/>
            <a:ext cx="2273300" cy="1384300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29700" y="3867646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ทรัพย์สิน (Asset)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29700" y="4144466"/>
            <a:ext cx="1962150" cy="3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ตัวจริงแต่ละชิ้น ผูก Asset Tag / Serial Number</a:t>
            </a:r>
            <a:endParaRPr lang="en-US" sz="1050" dirty="0"/>
          </a:p>
        </p:txBody>
      </p:sp>
      <p:pic>
        <p:nvPicPr>
          <p:cNvPr id="3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4700" y="4122539"/>
            <a:ext cx="444500" cy="127000"/>
          </a:xfrm>
          <a:prstGeom prst="rect">
            <a:avLst/>
          </a:prstGeom>
        </p:spPr>
      </p:pic>
      <p:pic>
        <p:nvPicPr>
          <p:cNvPr id="3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4122539"/>
            <a:ext cx="444500" cy="1270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073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5EEAD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653135"/>
            <a:ext cx="9810750" cy="58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เบิก → จ่ายอุปกรณ์ → ยืนยันรับของ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436046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ขั้นตอนที่ 1–2 และส่วนเสริมที่เกี่ยวข้อง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1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ขอเบิกอุปกรณ์ (Borrow Request)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ขอเบิกอุปกรณ์ (Borrow Reques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70674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วัตถุประสงค์การเบิก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3153489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เลือกได้ 3 แบบ: ยืม / ขายขาด / ใช้งานภายใน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70930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โครงการ/ลูกค้า หรือ แผนก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315646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label เปลี่ยนอัตโนมัติตามวัตถุประสงค์ที่เลือก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77388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วันที่ต้องการเริ่มใช้อุปกรณ์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323171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บังคับกรอก แยกจาก “วันที่ขอเบิก” (Round 7)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30032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ประเภทอุปกรณ์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349889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รายการกรองตาม scope ของวัตถุประสงค์อัตโนมัติ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167961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จำนวนที่ต้องการเบิก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167961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ระบุจำนวนชิ้นที่ต้องการ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18400" y="41042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74000" y="4104283"/>
            <a:ext cx="159732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วันที่คืน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74000" y="4336058"/>
            <a:ext cx="185582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ไม่บังคับ ยกเว้นกรณี “ยืม”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18400" y="464016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74000" y="4640163"/>
            <a:ext cx="17354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หมายเหตุเพิ่มเติม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874000" y="4871938"/>
            <a:ext cx="202156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ระบุรายละเอียดเสริมได้อิสระ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18400" y="5176044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74000" y="5176044"/>
            <a:ext cx="260955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ปุ่มส่งคำขอ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74000" y="5407819"/>
            <a:ext cx="304026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 “วันที่ขอเบิก” อัตโนมัติจากเวลาที่กด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ส่วนเสริม · ROUND 8–11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รายการคำขอที่ส่งแล้ว + ตัวกรอง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รายการคำขอที่ส่งแล้ว + ตัวกรอ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8459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ช่องค้นหาแบบ Live Filter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331565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ค้นเลขคำขอ/ชื่อผู้ขอ/โครงการ/รายการอุปกรณ์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173890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กรองตามวัตถุประสงค์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025729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ยืม / ขายขาด / ใช้งานภายใน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345972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กรองตามสถานะ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403074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รอจ่ายของ / เบิกแล้ว / หมดอายุ / ยกเลิกแล้ว (Round 11)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43235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ตัวกรองทำงานร่วมกันได้ (AND)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83380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พร้อมข้อความ “แสดง X จาก Y รายการ”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31022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คอลัมน์ “การรับของ”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69152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ติดตามสถานะยืนยันรับของ (Round 8)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18400" y="41042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74000" y="4104283"/>
            <a:ext cx="229612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 “แจ้งคืนอุปกรณ์”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74000" y="4336058"/>
            <a:ext cx="267509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แจ้งคืนได้เองจากตารางเดิม (Round 9)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18400" y="464016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74000" y="4640163"/>
            <a:ext cx="262713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ป้ายคำขอทดแทนอัตโนมัติ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874000" y="4871938"/>
            <a:ext cx="306074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ขึ้นเมื่อคืนของเสียและขอเครื่องทดแทนทันที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2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จ่ายอุปกรณ์ (Dispatch)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จ่ายอุปกรณ์ (Dispatch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2011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คำขอที่กำลังจ่ายของ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56448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แสดงรายละเอียดคำขอที่เลือกจากคิว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49673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 “เคยอยู่ไซต์นี้มาก่อน”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90881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แนะนำจากประวัติจ่าย/รับคืนจริง ไม่ใช่สุ่ม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2351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 “📍 ใกล้ไซต์นี้”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60401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เทียบภาคที่ตั้งปัจจุบันกับไซต์ที่ขอเบิก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91643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Radio เลือก Serial Number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91643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เรียงแนะนำอัตโนมัติ แต่ override ได้เสมอ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92703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กล่อง “ใกล้ครบกำหนดคืนจากที่อื่น”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51237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ชี้เป้าเท่านั้น ไม่ข้ามขั้นตอนรับคืนจริง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18400" y="41042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74000" y="4104283"/>
            <a:ext cx="243960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ปุ่มยืนยันจ่ายของ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74000" y="4336058"/>
            <a:ext cx="284226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อัปเดตสถานะและผูกวันครบกำหนดทันที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ส่วนเสริม · ROUND 8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ยืนยันรับของ (Receipt Confirmation)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ยืนยันรับของ (Receipt Confirmatio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31533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รายการที่จ่ายไปจริง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69748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เทียบทีละ Asset Tag / Serial Number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07374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เลือกผลตรวจรับต่อรายการ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41601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ครบ/สภาพดี หรือ ⚠️ มีปัญหา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26814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ช่องกรอกรายละเอียดปัญหา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194682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บังคับกรอกถ้าติ๊กว่ามีปัญหา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49796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ยืนยันได้ 2 ทาง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91024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ผู้ขอเบิกเอง หรือ OPERATION บันทึกแทน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227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สถานะอัปเดตทันที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59461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 “รับของแล้ว” หรือ “แจ้งปัญหา”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18400" y="41042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74000" y="4104283"/>
            <a:ext cx="201089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บันทึกลงประวัติทรัพย์สิน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74000" y="4336058"/>
            <a:ext cx="234279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ASSET_HISTORY อัตโนมัติทุกครั้ง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18400" y="464016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74000" y="4640163"/>
            <a:ext cx="21476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 “บันทึกผลการรับของ”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874000" y="4871938"/>
            <a:ext cx="1843399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ยืนยันครั้งเดียวจบทั้งคำขอ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073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5EEAD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653135"/>
            <a:ext cx="9810750" cy="58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ต่ออายุ → รับคืน → พิจารณาซ่อม → Write-off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436046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ขั้นตอนที่ 3–6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3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ต่ออายุการยืม (Renewal)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ต่ออายุการยืม (Renew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185055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รายการที่ยืมอยู่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155984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แสดงวันครบกำหนดคืนปัจจุบัน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41446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ค้นหาได้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81297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ด้วย Asset Tag / ชื่อโครงการ (Round 5)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092142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เลือกวันคืนใหม่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43744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กำหนดวันครบกำหนดคืนรอบถัดไป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31564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เหตุผล/หมายเหตุการต่ออายุ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198759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บันทึกประกอบการต่ออายุ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65922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ประวัติการต่ออายุ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309812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บันทึกเป็น chain แยกตาราง ไม่กระทบสต๊อก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18400" y="41042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74000" y="4104283"/>
            <a:ext cx="244216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ปุ่มยืนยันต่ออายุ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74000" y="4336058"/>
            <a:ext cx="284523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บันทึกทันทีโดยไม่เปลี่ยนสถานะทรัพย์สิน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4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รับคืนอุปกรณ์ (Return)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รับคืนอุปกรณ์ (Retur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61558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แท็บ “คำขอแจ้งคืนจากผู้ขอเบิก”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304728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 OPERATION ยืนยันรับคืนจริง (Round 9)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44665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แท็บ “คืนของเอง”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85047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กรณีมีคนหิ้วของมาคืนหน้างานก่อนใบคืน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69417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ค้นหาได้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313884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ด้วย Asset Tag / Serial / ประเภท / โครงการ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83990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ถามขอเครื่องทดแทนทันที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330862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ระบบสร้างคำขอร่างอัตโนมัติให้ (สถานะ “ร่าง”)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5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คิวพิจารณาซ่อม (Repair Queue)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คิวพิจารณาซ่อม (Repair Queu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11125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แท็บ “รอพิจารณา”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45971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ตัดสินใจส่งซ่อมหรือสร้าง Write-off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195111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แท็บ “กำลังซ่อม”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27314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ติดตามของที่ส่งออกไปแล้วรอผล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48590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ตัวกรอง “เฉพาะที่เกินกำหนด”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13373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เพิ่มใน Round 10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56551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Vendor ที่ส่งซ่อม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98894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เลือกจาก dropdown หรือ “อื่นๆ (ระบุชื่อ)”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38299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ป้ายเกินกำหนดซ่อม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776299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ค่าเริ่มต้น 30 วัน หากไม่ระบุวันคาดเสร็จ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6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คำขอ/อนุมัติ Write-off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คำขอ/อนุมัติ Write-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95108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ค้นหาทรัพย์สินที่ต้องการตัดจำหน่าย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95108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ช่องค้นหาแบบ live filter เดียวกันทั้งระบบ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63459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ป้ายแนะนำ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306943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🔧 อยู่ระหว่างซ่อม / ⏰ เลยกำหนดคืนแล้ว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76141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สถานะและที่ตั้ง/ผู้ถือครองปัจจุบัน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37021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ช่วยประกอบการตัดสินใจ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321575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UX เดียวกับตารางเลือกตอนจ่ายอุปกรณ์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76019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ทั้งระบบใช้แนวทางเดียวกัน (Round 5)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073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5EEAD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653135"/>
            <a:ext cx="9810750" cy="58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ข้อมูลหลักและการควบคุมสต๊อก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436046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ขั้นตอนที่ 7–11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7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รับของเข้าคลัง (Receive)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รับของเข้าคลัง (Rece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71860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กรอกทีละชิ้น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316730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ครบทุก field ตามไฟล์ “Upload Printer” จริง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318682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ID / ประเภท / Serial / Flag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73536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ระบุรายละเอียดทรัพย์สินแต่ละชิ้น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19679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รูปถ่ายอุปกรณ์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55936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เก็บเป็น path ไฟล์ใน Shared Folder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87403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วันสิ้นสุดรับประกัน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334839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แสดงป้าย “อยู่ในประกัน/หมดประกัน” อัตโนมัติ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19046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ตารางรับเข้าล่าสุด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21896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ขึ้นทะเบียนทรัพย์สิน (9.2) ทันที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8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ทะเบียนทรัพย์สิน (Asset Register)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ทะเบียนทรัพย์สิน (Asset Regist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24686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Master รวมทุกทรัพย์สิน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61770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filter ประเภท/หมวดหมู่/flag/สถานะ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10109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คลิกแถวเพื่อดูรายละเอียด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180344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 drawer พร้อมประวัติ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184748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ข้อมูลครบในมุมมองเดียว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15241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 / วันรับประกัน / รูปถ่าย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08785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สถานะและ Flag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43244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ให้ยืมได้ / ให้ขายได้ / ใช้งานภายใน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329947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ประวัติธุรกรรมจริง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384405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ASSET_HISTORY: รับเข้า→จ่าย→คืน→ซ่อม→Write-off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9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ตั้งค่า Item Master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ตั้งค่า Item Ma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49483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“หมวดหมู่ (Category)”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14140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เพิ่ม/แก้ไข/ลบได้เอง (Round 3)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187037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“ประเภทอุปกรณ์”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17908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ทุกรายการผูกกับหมวดหมู่เสมอ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172908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Track Serial Number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01394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กำหนดได้ต่อประเภทอุปกรณ์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174396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อุปกรณ์แบบชุด (Kit)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03180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 checklist อุปกรณ์ย่อย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08785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Scope การใช้งาน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243244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ให้ยืมได้ / ให้ขายได้ / ใช้งานภายใน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10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ตรวจนับประจำปี (Annual Check)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3295650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ตรวจนับประจำปี (Annual Che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17888"/>
            <a:ext cx="6337300" cy="2715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249733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 การ์ดสรุปแบบ Real-time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49733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ต้องตรวจ / พบปกติ / ไม่พบ / ชำรุด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234272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Export รายการเป็น CSV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729389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ทำงานจริงฝั่ง client ดาวน์โหลดได้ทันที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313167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ระบุผลตรวจนับต่อรายการ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3648551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ไม่พบ→สร้าง Write-off, ชำรุด→เข้าคิวซ่อม อัตโนมัติ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spc="150" kern="0" dirty="0">
                <a:solidFill>
                  <a:srgbClr val="0C7D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ขั้นตอนที่ 11 จาก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83820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 Dashboard — ปิดวงจรการทำงาน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428055"/>
            <a:ext cx="6597650" cy="44069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6350">
            <a:solidFill>
              <a:srgbClr val="DCE7E5"/>
            </a:solidFill>
            <a:prstDash val="solid"/>
          </a:ln>
          <a:effectLst>
            <a:outerShdw sx="100000" sy="100000" kx="0" ky="0" algn="bl" rotWithShape="0" blurRad="152400" dist="50800" dir="5400000">
              <a:srgbClr val="114342">
                <a:alpha val="10000"/>
              </a:srgbClr>
            </a:outerShdw>
          </a:effectLst>
        </p:spPr>
      </p:sp>
      <p:pic>
        <p:nvPicPr>
          <p:cNvPr id="5" name="Image 0" descr="ภาพหน้าจอ ภาพรวม Dashboard — ปิดวงจรการทำงา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69960"/>
            <a:ext cx="6337300" cy="39230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8400" y="142488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74000" y="1424880"/>
            <a:ext cx="19248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 Cards ปรับตาม Role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74000" y="1656655"/>
            <a:ext cx="2242542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เปลี่ยนมุมมองตามบทบาทที่สวม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18400" y="196076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74000" y="1960761"/>
            <a:ext cx="1800068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คำขอเบิกรอจ่ายของ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74000" y="2192536"/>
            <a:ext cx="2097167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และคำขอรอผู้รับยืนยันรับของ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18400" y="24966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74000" y="2496641"/>
            <a:ext cx="282368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รอซ่อม / กำลังซ่อม / รอ Write-off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74000" y="2728416"/>
            <a:ext cx="2423664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ภาพรวมของที่ไม่พร้อมใช้งาน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18400" y="303252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74000" y="3032522"/>
            <a:ext cx="277844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ขายแล้ว / ตัดจำหน่ายแล้ว (สะสม)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74000" y="3264297"/>
            <a:ext cx="2384830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ติดตามทรัพย์สินที่ออกจากคลังถาวร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18400" y="356840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74000" y="3568402"/>
            <a:ext cx="201965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F2A2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ตารางใกล้ครบกำหนดคืน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74000" y="3800177"/>
            <a:ext cx="1733848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4660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เตือนล่วงหน้าภายใน 30 วัน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13019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B4530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สรุปสถานะหลัง ROUND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904180"/>
            <a:ext cx="1130198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A2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ข้อจำกัดที่ทราบแล้ว (คุยกับ user แล้ว)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516261"/>
            <a:ext cx="10972800" cy="2772073"/>
          </a:xfrm>
          <a:custGeom>
            <a:avLst/>
            <a:gdLst/>
            <a:ahLst/>
            <a:cxnLst/>
            <a:rect l="l" t="t" r="r" b="b"/>
            <a:pathLst>
              <a:path w="10972800" h="2772073">
                <a:moveTo>
                  <a:pt x="10896600" y="0"/>
                </a:moveTo>
                <a:lnTo>
                  <a:pt x="10896600" y="0"/>
                </a:lnTo>
                <a:arcTo hR="76200" wR="76200" stAng="16200000" swAng="5400000"/>
                <a:lnTo>
                  <a:pt x="10972800" y="2695873"/>
                </a:lnTo>
                <a:arcTo hR="76200" wR="76200" stAng="0" swAng="5400000"/>
                <a:lnTo>
                  <a:pt x="76200" y="2772073"/>
                </a:lnTo>
                <a:arcTo hR="76200" wR="76200" stAng="5400000" swAng="5400000"/>
                <a:lnTo>
                  <a:pt x="0" y="2695873"/>
                </a:lnTo>
                <a:arcTo hR="69850" wR="76200" stAng="10800000" swAng="-5400000"/>
                <a:lnTo>
                  <a:pt x="10896600" y="2765723"/>
                </a:lnTo>
                <a:arcTo hR="69850" wR="69850" stAng="5400000" swAng="-5400000"/>
                <a:lnTo>
                  <a:pt x="10966450" y="76200"/>
                </a:lnTo>
                <a:arcTo hR="76200" wR="69850" stAng="0" swAng="-5400000"/>
                <a:close/>
              </a:path>
            </a:pathLst>
          </a:custGeom>
          <a:solidFill>
            <a:srgbClr val="DCE7E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516261"/>
            <a:ext cx="10972800" cy="2772073"/>
          </a:xfrm>
          <a:custGeom>
            <a:avLst/>
            <a:gdLst/>
            <a:ahLst/>
            <a:cxnLst/>
            <a:rect l="l" t="t" r="r" b="b"/>
            <a:pathLst>
              <a:path w="10972800" h="2772073">
                <a:moveTo>
                  <a:pt x="76200" y="2772073"/>
                </a:moveTo>
                <a:lnTo>
                  <a:pt x="76200" y="2772073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896600" y="0"/>
                </a:lnTo>
                <a:arcTo hR="76200" wR="76200" stAng="16200000" swAng="5400000"/>
                <a:lnTo>
                  <a:pt x="10972800" y="76200"/>
                </a:lnTo>
                <a:arcTo hR="63500" wR="76200" stAng="0" swAng="-5400000"/>
                <a:lnTo>
                  <a:pt x="76200" y="12700"/>
                </a:lnTo>
                <a:arcTo hR="63500" wR="63500" stAng="16200000" swAng="-5400000"/>
                <a:lnTo>
                  <a:pt x="12700" y="2695873"/>
                </a:lnTo>
                <a:arcTo hR="76200" wR="635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2300" y="1528961"/>
            <a:ext cx="10953750" cy="305891"/>
          </a:xfrm>
          <a:custGeom>
            <a:avLst/>
            <a:gdLst/>
            <a:ahLst/>
            <a:cxnLst/>
            <a:rect l="l" t="t" r="r" b="b"/>
            <a:pathLst>
              <a:path w="10953750" h="305891">
                <a:moveTo>
                  <a:pt x="0" y="63500"/>
                </a:moveTo>
                <a:arcTo hR="63500" wR="63500" stAng="10800000" swAng="5400000"/>
                <a:lnTo>
                  <a:pt x="10883900" y="0"/>
                </a:lnTo>
                <a:arcTo hR="69850" wR="69850" stAng="16200000" swAng="5400000"/>
                <a:lnTo>
                  <a:pt x="10953750" y="305891"/>
                </a:lnTo>
                <a:lnTo>
                  <a:pt x="0" y="305891"/>
                </a:lnTo>
                <a:close/>
              </a:path>
            </a:pathLst>
          </a:custGeom>
          <a:solidFill>
            <a:srgbClr val="E4E8E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528961"/>
          <a:ext cx="10953750" cy="2753023"/>
        </p:xfrm>
        <a:graphic>
          <a:graphicData uri="http://schemas.openxmlformats.org/drawingml/2006/table">
            <a:tbl>
              <a:tblPr/>
              <a:tblGrid>
                <a:gridCol w="2847975"/>
                <a:gridCol w="6134100"/>
                <a:gridCol w="1971675"/>
              </a:tblGrid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หัวข้อ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รายละเอียด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78350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การแจ้งปัญหารับของ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ยังไม่ auto ส่งต่อเคสไปซ่อม/Write-off เป็นแค่ flag ให้ OPERATION ติดตามเอง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8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รับของบางส่วน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ยืนยัน/แจ้งปัญหาเป็นก้อนเดียวทั้งคำขอ ยังไม่แยกย่อยรายชิ้น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8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ยกเลิกร่างคำขอทดแทนอัตโนมัติ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หมดอายุ 14 วัน หรือยกเลิกเองได้ แต่ตัวเลข 14 วันยังรอ user confirm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9–10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รายชื่อ Vendor ซ่อม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เปลี่ยนเป็น dropdown แล้ว แต่ยังไม่มีหน้าจัดการรายชื่อ (CRUD)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10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เปลี่ยน Vendor ระหว่างทาง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ยังไม่รองรับเปลี่ยน/ยกเลิกการส่งซ่อมกลางคัน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9–10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กรองตามตัวตนผู้ขอเบิก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ยังไม่จำลอง login รายบุคคล ทุกคนเห็นคำขอทั้งหมดร่วมกัน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11 (ใหม่)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ฟิลด์ “จังหวัด”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ยังไม่มีแยกต่างหาก ใช้ค้นหาจากข้อความ “โครงการ/ลูกค้า” แทน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11 (ใหม่)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589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F2A2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นำเข้า Excel จริง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6605D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รับของเข้าคลังแบบ bulk จำลองด้วยปุ่ม demo ยังไม่ parse ไฟล์จริง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Round 2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48895" marR="48895" marT="48895" marB="48895" anchor="t">
                    <a:lnL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5EEAD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ขั้นตอนถัดไป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EAF6F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ก่อนจะล็อก Schema จริง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9953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1434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68400" y="1799530"/>
            <a:ext cx="346391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AF6F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 Identity ผู้ขอเบิก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8400" y="2031305"/>
            <a:ext cx="403562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จะจำลอง login รายบุคคลในรอบถัดไปหรือไม่ (Round 11)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2800" y="236081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1434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8400" y="2360811"/>
            <a:ext cx="350407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AF6F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ยืนยันฟิลด์ “จังหวัด”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8400" y="2592586"/>
            <a:ext cx="4082415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เพิ่มแยกต่างหากในฟอร์มขอเบิกเพื่อกรองแม่นยำขึ้นหรือไม่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2800" y="292209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1434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68400" y="2922091"/>
            <a:ext cx="380187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AF6F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ยืนยันตัวเลข Config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8400" y="3153866"/>
            <a:ext cx="4429363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วันหมดอายุร่างทดแทน (14 วัน) และวันเกินกำหนดซ่อม (30 วัน)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2800" y="348337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11434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68400" y="3483372"/>
            <a:ext cx="331450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EAF6F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ยืนยัน Scope เพิ่มเติม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8400" y="3715147"/>
            <a:ext cx="3861554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BFE0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เช่น การอนุมัติ “ใช้งานภายใน” และรายชื่อ Vendor จริง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415895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 confirm ครบทุกข้อ → เริ่มเขียน Prompt สั่งงานสำหรับ Claude Code CLI (ยังไม่ใช่ production code)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4304" y="625604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938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Bedrock Analytics · PMeX Enterprise — Stock Module (Mockup)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eX Stock Module — Mockup Presentation">
  <a:themeElements>
    <a:clrScheme name="PMeX Stock Module — Mockup Presentation">
      <a:dk1>
        <a:srgbClr val="0F2A29"/>
      </a:dk1>
      <a:lt1>
        <a:srgbClr val="F6FAF9"/>
      </a:lt1>
      <a:dk2>
        <a:srgbClr val="495E5D"/>
      </a:dk2>
      <a:lt2>
        <a:srgbClr val="DFE5E4"/>
      </a:lt2>
      <a:accent1>
        <a:srgbClr val="0D9488"/>
      </a:accent1>
      <a:accent2>
        <a:srgbClr val="0C7D72"/>
      </a:accent2>
      <a:accent3>
        <a:srgbClr val="5EEAD4"/>
      </a:accent3>
      <a:accent4>
        <a:srgbClr val="114342"/>
      </a:accent4>
      <a:accent5>
        <a:srgbClr val="B45309"/>
      </a:accent5>
      <a:accent6>
        <a:srgbClr val="46605D"/>
      </a:accent6>
      <a:hlink>
        <a:srgbClr val="0563C1"/>
      </a:hlink>
      <a:folHlink>
        <a:srgbClr val="954F72"/>
      </a:folHlink>
    </a:clrScheme>
    <a:fontScheme name="PMeX Stock Module — Mockup Presentation">
      <a:majorFont>
        <a:latin typeface="Kan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PMeX Stock Module — Mockup Presentation</dc:title>
  <dc:subject/>
  <dc:creator/>
  <cp:lastModifiedBy/>
  <cp:revision>1</cp:revision>
  <dcterms:created xsi:type="dcterms:W3CDTF">2026-10-02T07:48:05Z</dcterms:created>
  <dcterms:modified xsi:type="dcterms:W3CDTF">2026-10-02T07:48:05Z</dcterms:modified>
</cp:coreProperties>
</file>